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822960"/>
            <a:ext cx="2560320" cy="292608"/>
          </a:xfrm>
          <a:prstGeom prst="roundRect">
            <a:avLst>
              <a:gd name="adj" fmla="val 12000"/>
            </a:avLst>
          </a:prstGeom>
          <a:solidFill>
            <a:srgbClr val="E7F2FF"/>
          </a:solidFill>
          <a:ln>
            <a:solidFill>
              <a:srgbClr val="E7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071E3"/>
                </a:solidFill>
                <a:latin typeface="Aptos"/>
              </a:rPr>
              <a:t>HYPERLEDGER FABRIC · B/S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66751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900" b="1">
                <a:solidFill>
                  <a:srgbClr val="1D1D1F"/>
                </a:solidFill>
                <a:latin typeface="Microsoft YaHei"/>
              </a:rPr>
              <a:t>链证项目管理
与发票报销系统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834640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E6E73"/>
                </a:solidFill>
                <a:latin typeface="Microsoft YaHei"/>
              </a:rPr>
              <a:t>面向多组织协作的项目、发票存证、报销与审计应用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023360"/>
            <a:ext cx="4754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Microsoft YaHei"/>
              </a:rPr>
              <a:t>课程：区块链技术应用实践
小组：[组号]  ·  成员：[请填写姓名与学号]
日期：2026 年 9 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14400"/>
            <a:ext cx="3749039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32588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D1D1F"/>
                </a:solidFill>
                <a:latin typeface="Microsoft YaHei"/>
              </a:rPr>
              <a:t>项目关键词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965960"/>
            <a:ext cx="2697480" cy="438912"/>
          </a:xfrm>
          <a:prstGeom prst="roundRect">
            <a:avLst>
              <a:gd name="adj" fmla="val 12000"/>
            </a:avLst>
          </a:prstGeom>
          <a:solidFill>
            <a:srgbClr val="E7F2FF"/>
          </a:solidFill>
          <a:ln>
            <a:solidFill>
              <a:srgbClr val="E7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075688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71E3"/>
                </a:solidFill>
                <a:latin typeface="Microsoft YaHei"/>
              </a:rPr>
              <a:t>项目资金池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670048"/>
            <a:ext cx="2697480" cy="438912"/>
          </a:xfrm>
          <a:prstGeom prst="roundRect">
            <a:avLst>
              <a:gd name="adj" fmla="val 12000"/>
            </a:avLst>
          </a:prstGeom>
          <a:solidFill>
            <a:srgbClr val="E5F6EC"/>
          </a:solidFill>
          <a:ln>
            <a:solidFill>
              <a:srgbClr val="E5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779776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D7A4B"/>
                </a:solidFill>
                <a:latin typeface="Microsoft YaHei"/>
              </a:rPr>
              <a:t>OCR 发票存证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374136"/>
            <a:ext cx="2697480" cy="438912"/>
          </a:xfrm>
          <a:prstGeom prst="roundRect">
            <a:avLst>
              <a:gd name="adj" fmla="val 12000"/>
            </a:avLst>
          </a:prstGeom>
          <a:solidFill>
            <a:srgbClr val="FFF4DA"/>
          </a:solidFill>
          <a:ln>
            <a:solidFill>
              <a:srgbClr val="FFF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3483864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9A6A00"/>
                </a:solidFill>
                <a:latin typeface="Microsoft YaHei"/>
              </a:rPr>
              <a:t>Fabric 联盟链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078224"/>
            <a:ext cx="2697480" cy="438912"/>
          </a:xfrm>
          <a:prstGeom prst="roundRect">
            <a:avLst>
              <a:gd name="adj" fmla="val 12000"/>
            </a:avLst>
          </a:prstGeom>
          <a:solidFill>
            <a:srgbClr val="E7F2FF"/>
          </a:solidFill>
          <a:ln>
            <a:solidFill>
              <a:srgbClr val="E7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4187952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71E3"/>
                </a:solidFill>
                <a:latin typeface="Microsoft YaHei"/>
              </a:rPr>
              <a:t>可审计流转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9204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E6E73"/>
                </a:solidFill>
                <a:latin typeface="Microsoft YaHei"/>
              </a:rPr>
              <a:t>从业务协作到可信账本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Aptos"/>
              </a:rPr>
              <a:t>02  ·  CHAINED INVOICE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Microsoft YaHei"/>
              </a:rPr>
              <a:t>应用场景与待解决问题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Microsoft YaHei"/>
              </a:rPr>
              <a:t>以学校科研项目经费管理为例，也可扩展到企业总部—项目组—财务共享中心。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82496"/>
            <a:ext cx="10972800" cy="13716"/>
          </a:xfrm>
          <a:prstGeom prst="rect">
            <a:avLst/>
          </a:prstGeom>
          <a:solidFill>
            <a:srgbClr val="D2D2D7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38328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45720" cy="1207008"/>
          </a:xfrm>
          <a:prstGeom prst="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02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Microsoft YaHei"/>
              </a:rPr>
              <a:t>票据与材料分散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24328"/>
            <a:ext cx="299923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E6E73"/>
                </a:solidFill>
                <a:latin typeface="Microsoft YaHei"/>
              </a:rPr>
              <a:t>纸质票据、Excel 与聊天记录分散保存，录入错误和重复登记难以及时发现。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57400"/>
            <a:ext cx="338328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057400"/>
            <a:ext cx="45720" cy="1207008"/>
          </a:xfrm>
          <a:prstGeom prst="rect">
            <a:avLst/>
          </a:prstGeom>
          <a:solidFill>
            <a:srgbClr val="1D7A4B"/>
          </a:solidFill>
          <a:ln>
            <a:solidFill>
              <a:srgbClr val="1D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2402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Microsoft YaHei"/>
              </a:rPr>
              <a:t>交接责任不清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624328"/>
            <a:ext cx="299923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E6E73"/>
                </a:solidFill>
                <a:latin typeface="Microsoft YaHei"/>
              </a:rPr>
              <a:t>项目组、外部协作方与财务之间传递票据时，缺少可核对的责任变化记录。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057400"/>
            <a:ext cx="338328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057400"/>
            <a:ext cx="45720" cy="1207008"/>
          </a:xfrm>
          <a:prstGeom prst="rect">
            <a:avLst/>
          </a:prstGeom>
          <a:solidFill>
            <a:srgbClr val="B97F00"/>
          </a:solidFill>
          <a:ln>
            <a:solidFill>
              <a:srgbClr val="B9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2402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Microsoft YaHei"/>
              </a:rPr>
              <a:t>预算过程不透明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624328"/>
            <a:ext cx="299923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E6E73"/>
                </a:solidFill>
                <a:latin typeface="Microsoft YaHei"/>
              </a:rPr>
              <a:t>预算、冻结额度和已支付金额缺乏统一约束，存在超预算或重复报销风险。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840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Microsoft YaHei"/>
              </a:rPr>
              <a:t>多组织协作场景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43400"/>
            <a:ext cx="2560320" cy="960120"/>
          </a:xfrm>
          <a:prstGeom prst="roundRect">
            <a:avLst>
              <a:gd name="adj" fmla="val 12000"/>
            </a:avLst>
          </a:prstGeom>
          <a:solidFill>
            <a:srgbClr val="E7F2FF"/>
          </a:solidFill>
          <a:ln>
            <a:solidFill>
              <a:srgbClr val="E7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5371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D1D1F"/>
                </a:solidFill>
                <a:latin typeface="Microsoft YaHei"/>
              </a:rPr>
              <a:t>牵头单位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E6E73"/>
                </a:solidFill>
                <a:latin typeface="Microsoft YaHei"/>
              </a:rPr>
              <a:t>浙江大学 / 总部</a:t>
            </a:r>
          </a:p>
        </p:txBody>
      </p:sp>
      <p:sp>
        <p:nvSpPr>
          <p:cNvPr id="22" name="Chevron 21"/>
          <p:cNvSpPr/>
          <p:nvPr/>
        </p:nvSpPr>
        <p:spPr>
          <a:xfrm>
            <a:off x="3611880" y="4681728"/>
            <a:ext cx="384048" cy="256032"/>
          </a:xfrm>
          <a:prstGeom prst="chevron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80560" y="4343400"/>
            <a:ext cx="2560320" cy="960120"/>
          </a:xfrm>
          <a:prstGeom prst="roundRect">
            <a:avLst>
              <a:gd name="adj" fmla="val 12000"/>
            </a:avLst>
          </a:prstGeom>
          <a:solidFill>
            <a:srgbClr val="E5F6EC"/>
          </a:solidFill>
          <a:ln>
            <a:solidFill>
              <a:srgbClr val="E5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55371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D1D1F"/>
                </a:solidFill>
                <a:latin typeface="Microsoft YaHei"/>
              </a:rPr>
              <a:t>内部项目组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89204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E6E73"/>
                </a:solidFill>
                <a:latin typeface="Microsoft YaHei"/>
              </a:rPr>
              <a:t>项目申请与执行</a:t>
            </a:r>
          </a:p>
        </p:txBody>
      </p:sp>
      <p:sp>
        <p:nvSpPr>
          <p:cNvPr id="26" name="Chevron 25"/>
          <p:cNvSpPr/>
          <p:nvPr/>
        </p:nvSpPr>
        <p:spPr>
          <a:xfrm>
            <a:off x="7269480" y="4681728"/>
            <a:ext cx="384048" cy="256032"/>
          </a:xfrm>
          <a:prstGeom prst="chevron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60" y="4343400"/>
            <a:ext cx="2560320" cy="960120"/>
          </a:xfrm>
          <a:prstGeom prst="roundRect">
            <a:avLst>
              <a:gd name="adj" fmla="val 12000"/>
            </a:avLst>
          </a:prstGeom>
          <a:solidFill>
            <a:srgbClr val="FFF4DA"/>
          </a:solidFill>
          <a:ln>
            <a:solidFill>
              <a:srgbClr val="FFF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455371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D1D1F"/>
                </a:solidFill>
                <a:latin typeface="Microsoft YaHei"/>
              </a:rPr>
              <a:t>财务协作组织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89204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E6E73"/>
                </a:solidFill>
                <a:latin typeface="Microsoft YaHei"/>
              </a:rPr>
              <a:t>票据复核与支付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E73"/>
                </a:solidFill>
                <a:latin typeface="Microsoft YaHei"/>
              </a:rPr>
              <a:t>链证项目管理与发票报销系统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E6E73"/>
                </a:solidFill>
                <a:latin typeface="Aptos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Aptos"/>
              </a:rPr>
              <a:t>03  ·  CHAINED INVOICE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Microsoft YaHei"/>
              </a:rPr>
              <a:t>产品方案：项目与报销的完整闭环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Microsoft YaHei"/>
              </a:rPr>
              <a:t>系统不是孤立的发票上链，而是将项目审核、资金池、发票和支付串成可执行流程。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82496"/>
            <a:ext cx="10972800" cy="13716"/>
          </a:xfrm>
          <a:prstGeom prst="rect">
            <a:avLst/>
          </a:prstGeom>
          <a:solidFill>
            <a:srgbClr val="D2D2D7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1536192" cy="841248"/>
          </a:xfrm>
          <a:prstGeom prst="roundRect">
            <a:avLst>
              <a:gd name="adj" fmla="val 12000"/>
            </a:avLst>
          </a:prstGeom>
          <a:solidFill>
            <a:srgbClr val="E7F2FF"/>
          </a:solidFill>
          <a:ln>
            <a:solidFill>
              <a:srgbClr val="E7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487168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创建项目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88920"/>
            <a:ext cx="1353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E6E73"/>
                </a:solidFill>
                <a:latin typeface="Microsoft YaHei"/>
              </a:rPr>
              <a:t>填写目标与预算</a:t>
            </a:r>
          </a:p>
        </p:txBody>
      </p:sp>
      <p:sp>
        <p:nvSpPr>
          <p:cNvPr id="9" name="Chevron 8"/>
          <p:cNvSpPr/>
          <p:nvPr/>
        </p:nvSpPr>
        <p:spPr>
          <a:xfrm>
            <a:off x="2176272" y="2633472"/>
            <a:ext cx="201168" cy="210312"/>
          </a:xfrm>
          <a:prstGeom prst="chevron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68880" y="2331720"/>
            <a:ext cx="1536192" cy="841248"/>
          </a:xfrm>
          <a:prstGeom prst="roundRect">
            <a:avLst>
              <a:gd name="adj" fmla="val 12000"/>
            </a:avLst>
          </a:prstGeom>
          <a:solidFill>
            <a:srgbClr val="E7F2FF"/>
          </a:solidFill>
          <a:ln>
            <a:solidFill>
              <a:srgbClr val="E7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487168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立项审核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788920"/>
            <a:ext cx="1353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E6E73"/>
                </a:solidFill>
                <a:latin typeface="Microsoft YaHei"/>
              </a:rPr>
              <a:t>进入执行阶段</a:t>
            </a:r>
          </a:p>
        </p:txBody>
      </p:sp>
      <p:sp>
        <p:nvSpPr>
          <p:cNvPr id="13" name="Chevron 12"/>
          <p:cNvSpPr/>
          <p:nvPr/>
        </p:nvSpPr>
        <p:spPr>
          <a:xfrm>
            <a:off x="4078224" y="2633472"/>
            <a:ext cx="201168" cy="210312"/>
          </a:xfrm>
          <a:prstGeom prst="chevron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0832" y="2331720"/>
            <a:ext cx="1536192" cy="841248"/>
          </a:xfrm>
          <a:prstGeom prst="roundRect">
            <a:avLst>
              <a:gd name="adj" fmla="val 12000"/>
            </a:avLst>
          </a:prstGeom>
          <a:solidFill>
            <a:srgbClr val="E5F6EC"/>
          </a:solidFill>
          <a:ln>
            <a:solidFill>
              <a:srgbClr val="E5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487168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结项验收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788920"/>
            <a:ext cx="1353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E6E73"/>
                </a:solidFill>
                <a:latin typeface="Microsoft YaHei"/>
              </a:rPr>
              <a:t>发放可用额度</a:t>
            </a:r>
          </a:p>
        </p:txBody>
      </p:sp>
      <p:sp>
        <p:nvSpPr>
          <p:cNvPr id="17" name="Chevron 16"/>
          <p:cNvSpPr/>
          <p:nvPr/>
        </p:nvSpPr>
        <p:spPr>
          <a:xfrm>
            <a:off x="5980176" y="2633472"/>
            <a:ext cx="201168" cy="210312"/>
          </a:xfrm>
          <a:prstGeom prst="chevron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72784" y="2331720"/>
            <a:ext cx="1536192" cy="841248"/>
          </a:xfrm>
          <a:prstGeom prst="roundRect">
            <a:avLst>
              <a:gd name="adj" fmla="val 12000"/>
            </a:avLst>
          </a:prstGeom>
          <a:solidFill>
            <a:srgbClr val="E7F2FF"/>
          </a:solidFill>
          <a:ln>
            <a:solidFill>
              <a:srgbClr val="E7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2487168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发票存证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788920"/>
            <a:ext cx="1353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E6E73"/>
                </a:solidFill>
                <a:latin typeface="Microsoft YaHei"/>
              </a:rPr>
              <a:t>OCR / 手工确认</a:t>
            </a:r>
          </a:p>
        </p:txBody>
      </p:sp>
      <p:sp>
        <p:nvSpPr>
          <p:cNvPr id="21" name="Chevron 20"/>
          <p:cNvSpPr/>
          <p:nvPr/>
        </p:nvSpPr>
        <p:spPr>
          <a:xfrm>
            <a:off x="7882128" y="2633472"/>
            <a:ext cx="201168" cy="210312"/>
          </a:xfrm>
          <a:prstGeom prst="chevron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74736" y="2331720"/>
            <a:ext cx="1536192" cy="841248"/>
          </a:xfrm>
          <a:prstGeom prst="roundRect">
            <a:avLst>
              <a:gd name="adj" fmla="val 12000"/>
            </a:avLst>
          </a:prstGeom>
          <a:solidFill>
            <a:srgbClr val="FFF4DA"/>
          </a:solidFill>
          <a:ln>
            <a:solidFill>
              <a:srgbClr val="FFF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2487168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报销审核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788920"/>
            <a:ext cx="1353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E6E73"/>
                </a:solidFill>
                <a:latin typeface="Microsoft YaHei"/>
              </a:rPr>
              <a:t>额度被冻结</a:t>
            </a:r>
          </a:p>
        </p:txBody>
      </p:sp>
      <p:sp>
        <p:nvSpPr>
          <p:cNvPr id="25" name="Chevron 24"/>
          <p:cNvSpPr/>
          <p:nvPr/>
        </p:nvSpPr>
        <p:spPr>
          <a:xfrm>
            <a:off x="9784080" y="2633472"/>
            <a:ext cx="201168" cy="210312"/>
          </a:xfrm>
          <a:prstGeom prst="chevron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76688" y="2331720"/>
            <a:ext cx="1536192" cy="841248"/>
          </a:xfrm>
          <a:prstGeom prst="roundRect">
            <a:avLst>
              <a:gd name="adj" fmla="val 12000"/>
            </a:avLst>
          </a:prstGeom>
          <a:solidFill>
            <a:srgbClr val="E5F6EC"/>
          </a:solidFill>
          <a:ln>
            <a:solidFill>
              <a:srgbClr val="E5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128" y="2487168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财务支付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2788920"/>
            <a:ext cx="1353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E6E73"/>
                </a:solidFill>
                <a:latin typeface="Microsoft YaHei"/>
              </a:rPr>
              <a:t>计入已支付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977639"/>
            <a:ext cx="10332720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4224528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Microsoft YaHei"/>
              </a:rPr>
              <a:t>关键设计原则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7792" y="4087368"/>
            <a:ext cx="781812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6E6E73"/>
                </a:solidFill>
                <a:latin typeface="Microsoft YaHei"/>
              </a:rPr>
              <a:t>• 立项通过仅代表项目可执行；结项验收通过后才进入财务结算并发放额度。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6E6E73"/>
                </a:solidFill>
                <a:latin typeface="Microsoft YaHei"/>
              </a:rPr>
              <a:t>• 报销审核通过：可用额度 → 冻结额度；确认支付：冻结额度 → 已支付金额。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6E6E73"/>
                </a:solidFill>
                <a:latin typeface="Microsoft YaHei"/>
              </a:rPr>
              <a:t>• 结算归档时回收剩余额度，归档后不允许继续新增发票或报销。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E73"/>
                </a:solidFill>
                <a:latin typeface="Microsoft YaHei"/>
              </a:rPr>
              <a:t>链证项目管理与发票报销系统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E6E73"/>
                </a:solidFill>
                <a:latin typeface="Aptos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Aptos"/>
              </a:rPr>
              <a:t>04  ·  CHAINED INVOICE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Microsoft YaHei"/>
              </a:rPr>
              <a:t>技术架构：B/S 应用连接 Fabric 联盟链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Microsoft YaHei"/>
              </a:rPr>
              <a:t>前端、后端和智能合约职责分层；关键业务状态由多个 Peer 共同维护。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82496"/>
            <a:ext cx="10972800" cy="13716"/>
          </a:xfrm>
          <a:prstGeom prst="rect">
            <a:avLst/>
          </a:prstGeom>
          <a:solidFill>
            <a:srgbClr val="D2D2D7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4206240" cy="694944"/>
          </a:xfrm>
          <a:prstGeom prst="roundRect">
            <a:avLst>
              <a:gd name="adj" fmla="val 12000"/>
            </a:avLst>
          </a:prstGeom>
          <a:solidFill>
            <a:srgbClr val="E7F2FF"/>
          </a:solidFill>
          <a:ln>
            <a:solidFill>
              <a:srgbClr val="E7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39112"/>
            <a:ext cx="14813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1D1F"/>
                </a:solidFill>
                <a:latin typeface="Microsoft YaHei"/>
              </a:rPr>
              <a:t>浏览器前端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28" y="202082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E6E73"/>
                </a:solidFill>
                <a:latin typeface="Microsoft YaHei"/>
              </a:rPr>
              <a:t>HTML · CSS · JavaScript
角色化界面与数据可视化</a:t>
            </a:r>
          </a:p>
        </p:txBody>
      </p:sp>
      <p:sp>
        <p:nvSpPr>
          <p:cNvPr id="9" name="Chevron 8"/>
          <p:cNvSpPr/>
          <p:nvPr/>
        </p:nvSpPr>
        <p:spPr>
          <a:xfrm>
            <a:off x="2697480" y="2651760"/>
            <a:ext cx="329184" cy="182880"/>
          </a:xfrm>
          <a:prstGeom prst="chevron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880360"/>
            <a:ext cx="4206240" cy="694944"/>
          </a:xfrm>
          <a:prstGeom prst="roundRect">
            <a:avLst>
              <a:gd name="adj" fmla="val 12000"/>
            </a:avLst>
          </a:prstGeom>
          <a:solidFill>
            <a:srgbClr val="E5F6EC"/>
          </a:solidFill>
          <a:ln>
            <a:solidFill>
              <a:srgbClr val="E5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99232"/>
            <a:ext cx="14813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1D1F"/>
                </a:solidFill>
                <a:latin typeface="Microsoft YaHei"/>
              </a:rPr>
              <a:t>Go + Gin 后端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298094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E6E73"/>
                </a:solidFill>
                <a:latin typeface="Microsoft YaHei"/>
              </a:rPr>
              <a:t>登录会话 · 参数校验 · SHA-256
OCR 接入 · REST API</a:t>
            </a:r>
          </a:p>
        </p:txBody>
      </p:sp>
      <p:sp>
        <p:nvSpPr>
          <p:cNvPr id="13" name="Chevron 12"/>
          <p:cNvSpPr/>
          <p:nvPr/>
        </p:nvSpPr>
        <p:spPr>
          <a:xfrm>
            <a:off x="2697480" y="3611880"/>
            <a:ext cx="329184" cy="182880"/>
          </a:xfrm>
          <a:prstGeom prst="chevron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840480"/>
            <a:ext cx="4206240" cy="694944"/>
          </a:xfrm>
          <a:prstGeom prst="roundRect">
            <a:avLst>
              <a:gd name="adj" fmla="val 12000"/>
            </a:avLst>
          </a:prstGeom>
          <a:solidFill>
            <a:srgbClr val="E7F2FF"/>
          </a:solidFill>
          <a:ln>
            <a:solidFill>
              <a:srgbClr val="E7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59352"/>
            <a:ext cx="14813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1D1F"/>
                </a:solidFill>
                <a:latin typeface="Microsoft YaHei"/>
              </a:rPr>
              <a:t>Fabric Gateway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394106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E6E73"/>
                </a:solidFill>
                <a:latin typeface="Microsoft YaHei"/>
              </a:rPr>
              <a:t>按 Org1 / Org2 身份连接 Peer
提交与查询智能合约</a:t>
            </a:r>
          </a:p>
        </p:txBody>
      </p:sp>
      <p:sp>
        <p:nvSpPr>
          <p:cNvPr id="17" name="Chevron 16"/>
          <p:cNvSpPr/>
          <p:nvPr/>
        </p:nvSpPr>
        <p:spPr>
          <a:xfrm>
            <a:off x="2697480" y="4572000"/>
            <a:ext cx="329184" cy="182880"/>
          </a:xfrm>
          <a:prstGeom prst="chevron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800600"/>
            <a:ext cx="4206240" cy="694944"/>
          </a:xfrm>
          <a:prstGeom prst="roundRect">
            <a:avLst>
              <a:gd name="adj" fmla="val 12000"/>
            </a:avLst>
          </a:prstGeom>
          <a:solidFill>
            <a:srgbClr val="FFF4DA"/>
          </a:solidFill>
          <a:ln>
            <a:solidFill>
              <a:srgbClr val="FFF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919472"/>
            <a:ext cx="14813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1D1F"/>
                </a:solidFill>
                <a:latin typeface="Microsoft YaHei"/>
              </a:rPr>
              <a:t>Hyperledger Fabric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490118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E6E73"/>
                </a:solidFill>
                <a:latin typeface="Microsoft YaHei"/>
              </a:rPr>
              <a:t>mychannel · Org1 Peer · Org2 Peer
Orderer · invoice 智能合约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920240"/>
            <a:ext cx="539496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1762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Microsoft YaHei"/>
              </a:rPr>
              <a:t>Fabric 网络（mychannel）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2743200"/>
            <a:ext cx="1600200" cy="859536"/>
          </a:xfrm>
          <a:prstGeom prst="roundRect">
            <a:avLst>
              <a:gd name="adj" fmla="val 12000"/>
            </a:avLst>
          </a:prstGeom>
          <a:solidFill>
            <a:srgbClr val="E7F2FF"/>
          </a:solidFill>
          <a:ln>
            <a:solidFill>
              <a:srgbClr val="E7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294436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Org1MSP
peer0.org1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2743200"/>
            <a:ext cx="1600200" cy="859536"/>
          </a:xfrm>
          <a:prstGeom prst="roundRect">
            <a:avLst>
              <a:gd name="adj" fmla="val 12000"/>
            </a:avLst>
          </a:prstGeom>
          <a:solidFill>
            <a:srgbClr val="E5F6EC"/>
          </a:solidFill>
          <a:ln>
            <a:solidFill>
              <a:srgbClr val="E5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294436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Org2MSP
peer0.org2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4160520"/>
            <a:ext cx="1783080" cy="685800"/>
          </a:xfrm>
          <a:prstGeom prst="roundRect">
            <a:avLst>
              <a:gd name="adj" fmla="val 12000"/>
            </a:avLst>
          </a:prstGeom>
          <a:solidFill>
            <a:srgbClr val="FFF4DA"/>
          </a:solidFill>
          <a:ln>
            <a:solidFill>
              <a:srgbClr val="FFF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4315968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D1D1F"/>
                </a:solidFill>
                <a:latin typeface="Microsoft YaHei"/>
              </a:rPr>
              <a:t>Orderer
排序服务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5074920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0">
                <a:solidFill>
                  <a:srgbClr val="6E6E73"/>
                </a:solidFill>
                <a:latin typeface="Microsoft YaHei"/>
              </a:rPr>
              <a:t>invoice 智能合约：组织 · 用户 · 项目 · 发票 · 流转 · 作废 · 报销 · 支付</a:t>
            </a:r>
          </a:p>
        </p:txBody>
      </p:sp>
      <p:sp>
        <p:nvSpPr>
          <p:cNvPr id="30" name="Chevron 29"/>
          <p:cNvSpPr/>
          <p:nvPr/>
        </p:nvSpPr>
        <p:spPr>
          <a:xfrm>
            <a:off x="7818120" y="3054096"/>
            <a:ext cx="960120" cy="237744"/>
          </a:xfrm>
          <a:prstGeom prst="chevron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evron 30"/>
          <p:cNvSpPr/>
          <p:nvPr/>
        </p:nvSpPr>
        <p:spPr>
          <a:xfrm>
            <a:off x="8275320" y="3703320"/>
            <a:ext cx="237744" cy="347472"/>
          </a:xfrm>
          <a:prstGeom prst="chevron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E73"/>
                </a:solidFill>
                <a:latin typeface="Microsoft YaHei"/>
              </a:rPr>
              <a:t>链证项目管理与发票报销系统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E6E73"/>
                </a:solidFill>
                <a:latin typeface="Aptos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Aptos"/>
              </a:rPr>
              <a:t>05  ·  CHAINED INVOICE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Microsoft YaHei"/>
              </a:rPr>
              <a:t>区块链在系统中的具体作用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Microsoft YaHei"/>
              </a:rPr>
              <a:t>不将所有文件上链，而是将需要共同确认、需要审计的关键业务事实写入账本。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82496"/>
            <a:ext cx="10972800" cy="13716"/>
          </a:xfrm>
          <a:prstGeom prst="rect">
            <a:avLst/>
          </a:prstGeom>
          <a:solidFill>
            <a:srgbClr val="D2D2D7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534924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86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Microsoft YaHei"/>
              </a:rPr>
              <a:t>链上：可追溯的业务事实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61488"/>
            <a:ext cx="45262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D1D1F"/>
                </a:solidFill>
                <a:latin typeface="Microsoft YaHei"/>
              </a:rPr>
              <a:t>• 业务组织、成员归属与岗位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D1D1F"/>
                </a:solidFill>
                <a:latin typeface="Microsoft YaHei"/>
              </a:rPr>
              <a:t>• 项目状态、预算、资金池与审核意见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D1D1F"/>
                </a:solidFill>
                <a:latin typeface="Microsoft YaHei"/>
              </a:rPr>
              <a:t>• 发票关键字段与 SHA-256 内容指纹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D1D1F"/>
                </a:solidFill>
                <a:latin typeface="Microsoft YaHei"/>
              </a:rPr>
              <a:t>• 跨组织交接、作废申请与审批记录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D1D1F"/>
                </a:solidFill>
                <a:latin typeface="Microsoft YaHei"/>
              </a:rPr>
              <a:t>• 报销单、冻结额度与支付状态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2011680"/>
            <a:ext cx="5285232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2860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Microsoft YaHei"/>
              </a:rPr>
              <a:t>链下：隐私与大文件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761488"/>
            <a:ext cx="4434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D1D1F"/>
                </a:solidFill>
                <a:latin typeface="Microsoft YaHei"/>
              </a:rPr>
              <a:t>• 登录密码哈希：本机账户文件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D1D1F"/>
                </a:solidFill>
                <a:latin typeface="Microsoft YaHei"/>
              </a:rPr>
              <a:t>• OCR AccessKey：本地 .env 配置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D1D1F"/>
                </a:solidFill>
                <a:latin typeface="Microsoft YaHei"/>
              </a:rPr>
              <a:t>• 发票 PDF / 图片原件：不直接上链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D1D1F"/>
                </a:solidFill>
                <a:latin typeface="Microsoft YaHei"/>
              </a:rPr>
              <a:t>• 支付截图、结项报告：记录说明或摘要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42432"/>
            <a:ext cx="10378440" cy="420624"/>
          </a:xfrm>
          <a:prstGeom prst="roundRect">
            <a:avLst>
              <a:gd name="adj" fmla="val 12000"/>
            </a:avLst>
          </a:prstGeom>
          <a:solidFill>
            <a:srgbClr val="E7F2FF"/>
          </a:solidFill>
          <a:ln>
            <a:solidFill>
              <a:srgbClr val="E7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852160"/>
            <a:ext cx="10149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0071E3"/>
                </a:solidFill>
                <a:latin typeface="Microsoft YaHei"/>
              </a:rPr>
              <a:t>可信机制：规范化字段 → SHA-256 内容摘要 → 链码校验权限与状态 → Fabric 保存世界状态和区块历史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E73"/>
                </a:solidFill>
                <a:latin typeface="Microsoft YaHei"/>
              </a:rPr>
              <a:t>链证项目管理与发票报销系统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E6E73"/>
                </a:solidFill>
                <a:latin typeface="Aptos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Aptos"/>
              </a:rPr>
              <a:t>06  ·  CHAINED INVOICE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Microsoft YaHei"/>
              </a:rPr>
              <a:t>核心功能与页面效果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Microsoft YaHei"/>
              </a:rPr>
              <a:t>OCR 减少录入工作量，项目资金池与报销状态自动联动。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82496"/>
            <a:ext cx="10972800" cy="13716"/>
          </a:xfrm>
          <a:prstGeom prst="rect">
            <a:avLst/>
          </a:prstGeom>
          <a:solidFill>
            <a:srgbClr val="D2D2D7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84248"/>
            <a:ext cx="544068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OCR发票存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63" y="2020824"/>
            <a:ext cx="5287112" cy="33558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90488" y="1984248"/>
            <a:ext cx="534924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-项目资金池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024322"/>
            <a:ext cx="5276088" cy="3348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" y="5650992"/>
            <a:ext cx="5047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71E3"/>
                </a:solidFill>
                <a:latin typeface="Microsoft YaHei"/>
              </a:rPr>
              <a:t>① 上传 PDF/图片 → OCR 自动回填 → 人工确认后上链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5650992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D7A4B"/>
                </a:solidFill>
                <a:latin typeface="Microsoft YaHei"/>
              </a:rPr>
              <a:t>② 项目预算、可用额度、冻结额度与已支付金额实时联动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E73"/>
                </a:solidFill>
                <a:latin typeface="Microsoft YaHei"/>
              </a:rPr>
              <a:t>链证项目管理与发票报销系统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E6E73"/>
                </a:solidFill>
                <a:latin typeface="Aptos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Aptos"/>
              </a:rPr>
              <a:t>07  ·  CHAINED INVOICE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Microsoft YaHei"/>
              </a:rPr>
              <a:t>效果展示：链上操作记录可读、可查、可验证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Microsoft YaHei"/>
              </a:rPr>
              <a:t>网页展示面向业务人员的可读事件；审计人员可进一步查看 Fabric 交易编码。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82496"/>
            <a:ext cx="10972800" cy="13716"/>
          </a:xfrm>
          <a:prstGeom prst="rect">
            <a:avLst/>
          </a:prstGeom>
          <a:solidFill>
            <a:srgbClr val="D2D2D7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965960"/>
            <a:ext cx="644652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-链上操作记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32" y="2002536"/>
            <a:ext cx="5575238" cy="35387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965960"/>
            <a:ext cx="4160520" cy="3611880"/>
          </a:xfrm>
          <a:prstGeom prst="roundRect">
            <a:avLst>
              <a:gd name="adj" fmla="val 12000"/>
            </a:avLst>
          </a:prstGeom>
          <a:solidFill>
            <a:srgbClr val="112233"/>
          </a:solidFill>
          <a:ln>
            <a:solidFill>
              <a:srgbClr val="11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62672" y="228600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Fabric Peer 直接查询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2724912"/>
            <a:ext cx="345643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D7EFFF"/>
                </a:solidFill>
                <a:latin typeface="Consolas"/>
              </a:rPr>
              <a:t>peer chaincode query
  -C mychannel
  -n invoice
  -c '{"Args":["ReadInvoice",
       "INV-..."]}'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2" y="4279392"/>
            <a:ext cx="3429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20" b="0">
                <a:solidFill>
                  <a:srgbClr val="FFFFFF"/>
                </a:solidFill>
                <a:latin typeface="Microsoft YaHei"/>
              </a:rPr>
              <a:t>• 同一张发票可由网页与 CLI 查询</a:t>
            </a:r>
          </a:p>
          <a:p>
            <a:pPr>
              <a:spcAft>
                <a:spcPts val="700"/>
              </a:spcAft>
            </a:pPr>
            <a:r>
              <a:rPr sz="1120" b="0">
                <a:solidFill>
                  <a:srgbClr val="FFFFFF"/>
                </a:solidFill>
                <a:latin typeface="Microsoft YaHei"/>
              </a:rPr>
              <a:t>• 存证、交接、作废、支付均追加记录</a:t>
            </a:r>
          </a:p>
          <a:p>
            <a:pPr>
              <a:spcAft>
                <a:spcPts val="700"/>
              </a:spcAft>
            </a:pPr>
            <a:r>
              <a:rPr sz="1120" b="0">
                <a:solidFill>
                  <a:srgbClr val="FFFFFF"/>
                </a:solidFill>
                <a:latin typeface="Microsoft YaHei"/>
              </a:rPr>
              <a:t>• Transaction ID 可定位 Fabric 原始交易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06440"/>
            <a:ext cx="10469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71E3"/>
                </a:solidFill>
                <a:latin typeface="Microsoft YaHei"/>
              </a:rPr>
              <a:t>展示重点：链上不是一串难懂编码，而是可审计的业务操作历史。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E73"/>
                </a:solidFill>
                <a:latin typeface="Microsoft YaHei"/>
              </a:rPr>
              <a:t>链证项目管理与发票报销系统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E6E73"/>
                </a:solidFill>
                <a:latin typeface="Aptos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Aptos"/>
              </a:rPr>
              <a:t>08  ·  CHAINED INVOICE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Microsoft YaHei"/>
              </a:rPr>
              <a:t>项目成果、特色与后续方向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Microsoft YaHei"/>
              </a:rPr>
              <a:t>已实现可运行的完整 B/S 应用；后续可向真实多组织联盟链和附件可信存储扩展。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82496"/>
            <a:ext cx="10972800" cy="13716"/>
          </a:xfrm>
          <a:prstGeom prst="rect">
            <a:avLst/>
          </a:prstGeom>
          <a:solidFill>
            <a:srgbClr val="D2D2D7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715000" cy="3547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-数据统计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82" y="2048256"/>
            <a:ext cx="5474394" cy="3474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29400" y="2011680"/>
            <a:ext cx="4892040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2011680"/>
            <a:ext cx="45720" cy="1664208"/>
          </a:xfrm>
          <a:prstGeom prst="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0568" y="2194560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Microsoft YaHei"/>
              </a:rPr>
              <a:t>项目特色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578608"/>
            <a:ext cx="450799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E6E73"/>
                </a:solidFill>
                <a:latin typeface="Microsoft YaHei"/>
              </a:rPr>
              <a:t>① 项目资金池与发票报销联动
② OCR + 人工确认 + 内容指纹存证
③ 双方确认的跨组织票据交接
④ 可审计的作废申请与审批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913632"/>
            <a:ext cx="48920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3913632"/>
            <a:ext cx="45720" cy="1417320"/>
          </a:xfrm>
          <a:prstGeom prst="rect">
            <a:avLst/>
          </a:prstGeom>
          <a:solidFill>
            <a:srgbClr val="1D7A4B"/>
          </a:solidFill>
          <a:ln>
            <a:solidFill>
              <a:srgbClr val="1D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4096512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Microsoft YaHei"/>
              </a:rPr>
              <a:t>后续扩展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4480560"/>
            <a:ext cx="450799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E6E73"/>
                </a:solidFill>
                <a:latin typeface="Microsoft YaHei"/>
              </a:rPr>
              <a:t>引入更多 Fabric 组织与多方背书；接入对象存储/IPFS；接入真实票据查验、统一身份认证与移动端通知。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879592"/>
            <a:ext cx="10652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E6E73"/>
                </a:solidFill>
                <a:latin typeface="Microsoft YaHei"/>
              </a:rPr>
              <a:t>小组分工：[请填写成员与分工]     谢谢老师！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E73"/>
                </a:solidFill>
                <a:latin typeface="Microsoft YaHei"/>
              </a:rPr>
              <a:t>链证项目管理与发票报销系统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E6E73"/>
                </a:solidFill>
                <a:latin typeface="Aptos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